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40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2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00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FCEA-15A6-2BB3-0644-CA1400FD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A54F7-3D2D-326D-82BF-2C4F9AB86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585AA-B9DF-2B1D-E828-7EFED4311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25499-F45F-2925-6DE6-B77AC3A3B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0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la migration dans les observatoires de population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du</a:t>
            </a:r>
            <a:endParaRPr lang="en-US" sz="5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inversé</a:t>
            </a:r>
            <a:endParaRPr lang="en-US" sz="5600" dirty="0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46C05BED-E80C-D840-EBE2-E1FCDF8A5016}"/>
              </a:ext>
            </a:extLst>
          </p:cNvPr>
          <p:cNvSpPr txBox="1">
            <a:spLocks/>
          </p:cNvSpPr>
          <p:nvPr/>
        </p:nvSpPr>
        <p:spPr>
          <a:xfrm>
            <a:off x="392926" y="3726770"/>
            <a:ext cx="7199313" cy="5931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2400" dirty="0">
                <a:solidFill>
                  <a:schemeClr val="bg1"/>
                </a:solidFill>
              </a:rPr>
              <a:t>Yacouba Compaoré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EABCBD4-6D0A-BD28-145B-A3FB9B8EE772}"/>
              </a:ext>
            </a:extLst>
          </p:cNvPr>
          <p:cNvSpPr/>
          <p:nvPr/>
        </p:nvSpPr>
        <p:spPr>
          <a:xfrm>
            <a:off x="502920" y="2834640"/>
            <a:ext cx="7741118" cy="37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9E6DF"/>
                </a:solidFill>
                <a:ea typeface="Calibri" pitchFamily="34" charset="-122"/>
                <a:cs typeface="Calibri" pitchFamily="34" charset="-120"/>
              </a:rPr>
              <a:t>Comprendre le principe pour </a:t>
            </a:r>
            <a:r>
              <a:rPr lang="en-US" sz="1600" dirty="0" err="1">
                <a:solidFill>
                  <a:srgbClr val="99E6DF"/>
                </a:solidFill>
                <a:ea typeface="Calibri" pitchFamily="34" charset="-122"/>
                <a:cs typeface="Calibri" pitchFamily="34" charset="-120"/>
              </a:rPr>
              <a:t>calculer</a:t>
            </a:r>
            <a:r>
              <a:rPr lang="en-US" sz="1600" dirty="0">
                <a:solidFill>
                  <a:srgbClr val="99E6DF"/>
                </a:solidFill>
                <a:ea typeface="Calibri" pitchFamily="34" charset="-122"/>
                <a:cs typeface="Calibri" pitchFamily="34" charset="-120"/>
              </a:rPr>
              <a:t> les taux d'immigration dans un HDSS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502920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868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fondamental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280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on ne peut pas calculer directement le taux d'immigration 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50292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0040" y="2103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du temps inversé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606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conceptuel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vient cette idée 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0040" y="3429000"/>
            <a:ext cx="50292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</a:t>
            </a:r>
            <a:r>
              <a:rPr lang="en-US" sz="1300" b="1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</a:t>
            </a: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la construction des variables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rev_ageday80 et rev_agebeg80 et que mesurent-elles exactement 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754880" y="777240"/>
            <a:ext cx="502920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754880" y="77724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49240" y="868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par âge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280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numérique complet avec des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0312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754880" y="2103120"/>
            <a:ext cx="50292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754880" y="2103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49240" y="2194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par année calendaire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2606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logique, axe temporel différent — exemples 2010–2024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: qu'est-ce qu'un taux de migration 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758952"/>
            <a:ext cx="8412480" cy="68580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75895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 =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d'événements</a:t>
            </a:r>
            <a:r>
              <a:rPr lang="en-US" sz="1800" dirty="0">
                <a:solidFill>
                  <a:srgbClr val="9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÷  </a:t>
            </a:r>
            <a:r>
              <a:rPr lang="en-US" sz="1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Personnes-années exposées au risque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4251960" cy="32461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42519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ÉMIGRATION — facile 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: on compte les départs (OMG)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Exposés : les résidents du HDSS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0815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les observe pendant leur résidence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personnes-années sont connues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873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 direct possible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572768"/>
            <a:ext cx="4251960" cy="32461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846320" y="1572768"/>
            <a:ext cx="42519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937760" y="15727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IMMIGRATION — impossible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0" y="20756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: on compte les arrivées (IMG)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5786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Exposés : les </a:t>
            </a:r>
            <a:r>
              <a:rPr lang="en-US" sz="120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</a:t>
            </a: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l'arrivée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0815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</a:t>
            </a:r>
            <a:r>
              <a:rPr lang="en-US" sz="120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vivent</a:t>
            </a: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hors du HDSS avant d'entrer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5844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 ne les observe pas du tout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0873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 direct IMPOSSIBLE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« à risque d'immigrer » 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5577840" cy="4023360"/>
          </a:xfrm>
          <a:prstGeom prst="rect">
            <a:avLst/>
          </a:prstGeom>
          <a:solidFill>
            <a:srgbClr val="E6F7F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383280" y="8229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DU HDSS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777240"/>
            <a:ext cx="2743200" cy="402336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DU HDSS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Moussa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ans — Ouagadougou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ans — Ghana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ans — Bobo-Dioulasso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sait pas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ils sont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depuis combien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temps ils sont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risque »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13716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429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93192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ans — Résident depuis 2015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23317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4290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31920" y="2331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93192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ans — Résidente depuis 2019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29000" y="32918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4290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31920" y="3291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Idrissa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93192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ans — Résident depuis 2010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83280" y="411480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les observe.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11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résidence.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17520" y="1572768"/>
            <a:ext cx="18288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017520" y="2395728"/>
            <a:ext cx="18288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3017520" y="3218688"/>
            <a:ext cx="18288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60604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ENTRENT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HDSS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4526280"/>
            <a:ext cx="530352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3520440" y="45262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dénominateur du taux d'immigration est INVISIBLE : on ne peut pas le calculer directement.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clé : les résidents sont leur propre témoin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758952"/>
            <a:ext cx="8412480" cy="86868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795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centrale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0424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résident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l’observatoire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forcément immigré un jour ou est né dans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l’observatoire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temps de résidence représente du temps « à risque d'être entré »  vu depuis le passé.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274320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274320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normal du temps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359152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part de la naissance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on avance vers l'avenir.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115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</a:t>
            </a: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sortie du HDSS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(émigration)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</a:t>
            </a:r>
            <a:r>
              <a:rPr lang="en-US" sz="115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</a:t>
            </a: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</a:t>
            </a:r>
            <a:r>
              <a:rPr lang="en-US" sz="115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l'entrée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qu'elle survienne.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1828800"/>
            <a:ext cx="274320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0" y="1828800"/>
            <a:ext cx="274320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0" y="18288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94760" y="18288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Retourner le temps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2359152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part d'un point fixe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80e anniversaire)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on remonte vers le passé.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L'entrée dans le HDSS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devient un événement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743200" cy="297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080760" y="1828800"/>
            <a:ext cx="274320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080760" y="18288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75120" y="18288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obtient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2359152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personnes-années de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résidence deviennent du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« à risque rétrograde ».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calcule le taux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d'immigration par âge</a:t>
            </a:r>
            <a:endParaRPr lang="en-US" sz="11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</a:t>
            </a:r>
            <a:r>
              <a:rPr lang="en-US" sz="115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l’arrivée</a:t>
            </a: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681728"/>
            <a:ext cx="8412480" cy="1828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4681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</a:t>
            </a: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 lire un livre à </a:t>
            </a:r>
            <a:r>
              <a:rPr lang="en-US" sz="1000" i="1" dirty="0" err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l'envers</a:t>
            </a: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 les dernières pages deviennent les premières, les fins deviennent des débuts.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d'ancrage : pourquoi le 80ᵉ anniversaire 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758952"/>
            <a:ext cx="8412480" cy="77724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d’un point fixe dans le futur à partir duquel « remonter le temps ».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point = le 80e anniversaire de chaque individu  →  DoB + 80 ans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502920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" y="17922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 la durée de vie observée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peu d'individus dépassent 80 </a:t>
            </a:r>
            <a:r>
              <a:rPr lang="en-US" sz="115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Afrique sub-</a:t>
            </a:r>
            <a:r>
              <a:rPr lang="en-US" sz="115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saharienne</a:t>
            </a: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 exclut explicitement les épisodes au-delà de 80 ans avec l'option if(age80!=80). Cela évite d'inclure des épisodes artificiels.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502920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" y="274320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27980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 à tous les individus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80e anniversaire est calculé de façon individuelle (DoB + 80 ans), pas une date fixe. Chaque personne a son propre point d'ancrage. La distance mesurée est donc toujours relative à l'individu.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502920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0040" y="3749040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" y="38039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Symétrie avec l'axe d'âge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2688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inversé, "50 ans avant 80" correspond à un âge réel de 30 ans. L'axe résultant va de 0 à 80 </a:t>
            </a:r>
            <a:r>
              <a:rPr lang="en-US" sz="1150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exactement comme l'axe normal de l'émigration. La comparaison est directe.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46817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Formule :  rev_ageday80  =  (DoB  +  80 × 365.25 × 24 × 3 600 × 1 000)  −  EventDate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mesurent exactement les variables en temps inversé 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1645920" cy="41148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93192" y="7498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65960" y="749808"/>
            <a:ext cx="2194560" cy="41148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039112" y="7498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749808"/>
            <a:ext cx="2377440" cy="41148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233672" y="749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37960" y="749808"/>
            <a:ext cx="2377440" cy="41148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611112" y="749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123444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965960" y="1234440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6052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3796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20040" y="1234440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29768" y="1280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datebeg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57400" y="1307592"/>
            <a:ext cx="2057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de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l'épisode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51960" y="1307592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à laquelle l'individu devient résident (ou naît)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1307592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rev_agebeg80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80e anniv. − datebeg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 épisode en temps inv.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404872"/>
            <a:ext cx="16459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965960" y="2404872"/>
            <a:ext cx="21945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160520" y="2404872"/>
            <a:ext cx="23774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537960" y="2404872"/>
            <a:ext cx="23774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20040" y="2404872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29768" y="2450592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EventDate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57400" y="2478024"/>
            <a:ext cx="2057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l'épisode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51960" y="2478024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l'événement qui termine l'épisode (OMG, DCD, OBE...)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2478024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rev_ageday80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80e anniv. − EventDate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début épisode en temps inv.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575304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1965960" y="3575304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160520" y="3575304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537960" y="3575304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320040" y="3575304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29768" y="3621024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censor_out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(émigration)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57400" y="3648456"/>
            <a:ext cx="2057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d'intérêt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251960" y="3648456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du HDSS (OMG ou fin d'observation)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29400" y="3648456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censor_in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dans le HDSS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immigration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727448"/>
            <a:ext cx="8503920" cy="1828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57200" y="47274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ATTENTION : datebeg (début réel) devient la FIN en temps inversé, et EventDate (fin réelle) devient le DÉBUT. Les rôles s'inversent.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d'immigration par âge — trois exemples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758952"/>
            <a:ext cx="8412480" cy="475488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7589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calculer à quel âge les individus entrent dans le HDSS. On analyse l'entrée « comme si » c'était une sortie, mais vue depuis le futur (depuis le 80ᵉ anniversaire).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281635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28163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11480" y="13533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Moussa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01/01/1985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596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dans le HDSS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712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01/01/2015 (30 ans)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46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d'observation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6210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01/01/2024 (39 ans)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80e anniversaire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27832" y="1353312"/>
            <a:ext cx="281635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27832" y="1353312"/>
            <a:ext cx="28163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319272" y="13533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64992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64992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01/01/1995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2596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dans le HDSS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64992" y="28712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01/01/2018 (23 ans)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64992" y="3346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d'observation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64992" y="36210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01/01/2024 (29 ans)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80e anniversaire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64992" y="4370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01/01/2075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35624" y="1353312"/>
            <a:ext cx="281635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135624" y="1353312"/>
            <a:ext cx="281635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227064" y="13533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72784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72784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01/01/1970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72784" y="2596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dans le HDSS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72784" y="28712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01/01/2010 (40 ans)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72784" y="3346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d'observation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72784" y="36210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01/01/2024 (54 ans)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72784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80e anniversaire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72784" y="4370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01/01/2050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4919472"/>
            <a:ext cx="850392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variables en temps inversé — résultats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Pour chaque individu : rev_ageday80 = 80e_anniv − EventDate   |   rev_agebeg80 = 80e_anniv − datebeg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69848"/>
            <a:ext cx="1005840" cy="566928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74904" y="10698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1069848"/>
            <a:ext cx="1097280" cy="566928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80744" y="10698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réel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l'entrée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069848"/>
            <a:ext cx="1645920" cy="566928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478024" y="10698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rev_ageday80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années)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69080" y="1069848"/>
            <a:ext cx="1645920" cy="566928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123944" y="10698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rev_agebeg80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années)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15000" y="1069848"/>
            <a:ext cx="1005840" cy="566928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769864" y="10698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épisode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1069848"/>
            <a:ext cx="914400" cy="566928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775704" y="10698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censor_in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1069848"/>
            <a:ext cx="1417320" cy="566928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690104" y="106984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709928"/>
            <a:ext cx="1005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325880" y="1709928"/>
            <a:ext cx="1097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423160" y="1709928"/>
            <a:ext cx="1645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069080" y="1709928"/>
            <a:ext cx="1645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715000" y="1709928"/>
            <a:ext cx="1005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720840" y="1709928"/>
            <a:ext cx="914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7635240" y="1709928"/>
            <a:ext cx="1417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20040" y="1709928"/>
            <a:ext cx="64008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11480" y="1764792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Moussa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320" y="176479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1764792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80 − 30 = 50 ans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(= 2065 − 2015)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60520" y="1764792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80 − 39 = 41 ans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(= 2065 − 2024)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06440" y="1764792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1764792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(entré à 30)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26680" y="1764792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Épisode de 41 à 50 ans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inversé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taux à 30–39 ans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761488"/>
            <a:ext cx="100584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1325880" y="2761488"/>
            <a:ext cx="1097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2423160" y="2761488"/>
            <a:ext cx="164592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069080" y="2761488"/>
            <a:ext cx="164592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715000" y="2761488"/>
            <a:ext cx="100584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720840" y="2761488"/>
            <a:ext cx="91440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635240" y="2761488"/>
            <a:ext cx="141732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320040" y="2761488"/>
            <a:ext cx="6400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11480" y="2816352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417320" y="281635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514600" y="2816352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80 − 23 = 57 ans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(= 2075 − 2018)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60520" y="2816352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80 − 29 = 51 ans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(= 2075 − 2024)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06440" y="2816352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12280" y="2816352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(entrée à 23)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26680" y="2816352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Épisode de 51 à 57 ans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inversé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taux à 23–29 ans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3813048"/>
            <a:ext cx="1005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1325880" y="3813048"/>
            <a:ext cx="1097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2423160" y="3813048"/>
            <a:ext cx="1645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069080" y="3813048"/>
            <a:ext cx="1645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5715000" y="3813048"/>
            <a:ext cx="1005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6720840" y="3813048"/>
            <a:ext cx="914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7635240" y="3813048"/>
            <a:ext cx="1417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320040" y="3813048"/>
            <a:ext cx="64008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411480" y="3867912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417320" y="386791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ans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514600" y="3867912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80 − 40 = 40 ans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(= 2050 − 2010)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160520" y="3867912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80 − 54 = 26 ans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(= 2050 − 2024)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806440" y="3867912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ans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812280" y="3867912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(entré à 40)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726680" y="3867912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Épisode de 26 à 40 ans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inversé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taux à 40–54 ans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0040" y="4709160"/>
            <a:ext cx="85039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457200" y="47091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:  âge_réel_à_l'entrée  +  rev_ageday80 (en ans)  =  80   →   Moussa : 30 + 50 = 80    Fatima : 23 + 57 = 80    Ali : 40 + 40 = 80 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 retournement — Moussa (né 1985, entré à 30 ans)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</a:t>
            </a:r>
            <a:r>
              <a:rPr lang="en-US" sz="1200" b="1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r>
              <a:rPr lang="en-US" sz="12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(sens normal)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82296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962656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419856" y="1115568"/>
            <a:ext cx="888797" cy="2286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61872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9424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36976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25773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99632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87184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74736" y="1371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1371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(ans)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60020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(hors HDSS)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19856" y="1600200"/>
            <a:ext cx="8887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— 9 ans de résidence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10128" y="1069848"/>
            <a:ext cx="228600" cy="2286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145536" y="82296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1488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</a:t>
            </a:r>
            <a:r>
              <a:rPr lang="en-US" sz="1200" b="1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inversé</a:t>
            </a:r>
            <a:r>
              <a:rPr lang="en-US" sz="12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(depuis le 80ᵉ anniversaire = 2065)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514600"/>
            <a:ext cx="82296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419856" y="2514600"/>
            <a:ext cx="888797" cy="2286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174736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87184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9632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24528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25773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36976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49424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61872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2770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2770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 avant       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10128" y="2468880"/>
            <a:ext cx="228600" cy="2286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054096" y="19476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censor_in=1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(entrée HDSS)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Épisode visible en temps inversé : de 41 à 50 ans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 entre les deux axes 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749040"/>
            <a:ext cx="2468880" cy="3200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3200400" y="3749040"/>
            <a:ext cx="2468880" cy="320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5943600" y="3749040"/>
            <a:ext cx="28803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38912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30 (entrée)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834640" y="3904488"/>
            <a:ext cx="3200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324612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ans avant 80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16752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rev_ageday80 = 50 ans → time0 dans stset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4133088"/>
            <a:ext cx="2468880" cy="3200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3200400" y="4133088"/>
            <a:ext cx="2468880" cy="320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5943600" y="4133088"/>
            <a:ext cx="28803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438912" y="41330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39 (fin obs.)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834640" y="4288536"/>
            <a:ext cx="3200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3246120" y="41330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ans avant 80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016752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rev_agebeg80 = 41 ans → t dans stset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4517136"/>
            <a:ext cx="2468880" cy="3200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3200400" y="4517136"/>
            <a:ext cx="2468880" cy="320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5943600" y="4517136"/>
            <a:ext cx="28803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438912" y="45171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9 ans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834640" y="4672584"/>
            <a:ext cx="3200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3246120" y="45171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9 ans (50−41)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016752" y="4517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durée est identique dans les deux sens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2563" y="118872"/>
            <a:ext cx="8895669" cy="409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par année </a:t>
            </a:r>
            <a:r>
              <a:rPr lang="en-US" sz="2800" b="1" dirty="0" err="1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calendaire</a:t>
            </a:r>
            <a:r>
              <a:rPr lang="en-US" sz="28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point d'ancrage : 01/01/2024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Formule :  rev_eventd2024  =  01/01/2024  −  EventDate   |   rev_datebeg2024  =  01/01/2024  −  datebeg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914400" cy="45720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097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1097280"/>
            <a:ext cx="1097280" cy="45720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98448" y="1097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(réelle)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1097280"/>
            <a:ext cx="1097280" cy="45720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395728" y="1097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obs.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(réelle)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097280"/>
            <a:ext cx="1828800" cy="45720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493008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rev_eventd2024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années)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1097280"/>
            <a:ext cx="1828800" cy="45720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321808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rev_datebeg2024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années)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86600" y="1097280"/>
            <a:ext cx="1234440" cy="45720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150608" y="10972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627632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234440" y="1627632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331720" y="1627632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429000" y="1627632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257800" y="1627632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086600" y="1627632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0040" y="1627632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11480" y="171907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Moussa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171907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171907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0440" y="17190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2024−2015 = 9 ans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17190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2024−2024 = 0 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78040" y="171907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(il y a 9 ans)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2450592"/>
            <a:ext cx="9144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1234440" y="2450592"/>
            <a:ext cx="10972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331720" y="2450592"/>
            <a:ext cx="109728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429000" y="2450592"/>
            <a:ext cx="18288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257800" y="2450592"/>
            <a:ext cx="18288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086600" y="2450592"/>
            <a:ext cx="12344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320040" y="2450592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11480" y="254203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325880" y="254203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01/01/2018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23160" y="254203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20440" y="2542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2024−2018 = 6 ans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49240" y="2542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2024−2024 = 0 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78040" y="25420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(il y a 6 ans)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273552"/>
            <a:ext cx="914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1234440" y="3273552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2331720" y="3273552"/>
            <a:ext cx="1097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3429000" y="3273552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5257800" y="3273552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7086600" y="3273552"/>
            <a:ext cx="1234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320040" y="3273552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411480" y="336499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325880" y="336499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01/01/2010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423160" y="336499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520440" y="33649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2024−2010 = 14 ans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49240" y="33649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2024−2024 = 0 an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78040" y="33649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(il y a 14 ans)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887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 retournement — axe année calendaire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Moussa : entré en 2015, observé jusqu'en 2024. Point d'ancrage = 01/01/2024.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44752"/>
            <a:ext cx="813816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57200" y="1444752"/>
            <a:ext cx="2139696" cy="256032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96896" y="1444752"/>
            <a:ext cx="3209544" cy="256032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487168" y="1399032"/>
            <a:ext cx="228600" cy="2286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74320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0936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44168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57400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14016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70632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83864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97096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10328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23560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19202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(avant HDSS)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96896" y="192024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→ 2024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INVERSÉ (depuis 2024)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2724912"/>
            <a:ext cx="813816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57200" y="2724912"/>
            <a:ext cx="3209544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557016" y="2679192"/>
            <a:ext cx="228600" cy="2286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300984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censor_in=1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HDSS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87552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44168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700784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57400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14016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770632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27248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83864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40480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53712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66944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23560" y="2999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0" y="29992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 avant 2024 →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321868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en temps inversé : de 0 à 9 ans avant 2024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 :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3931920"/>
            <a:ext cx="2286000" cy="27432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2926080" y="3931920"/>
            <a:ext cx="228600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486400" y="3931920"/>
            <a:ext cx="33375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457200" y="3931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(entrée)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651760" y="4069080"/>
            <a:ext cx="246888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29718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ans avant 2024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559552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rev_eventd2024 = 9 ans → time0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270248"/>
            <a:ext cx="2286000" cy="27432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2926080" y="4270248"/>
            <a:ext cx="228600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5486400" y="4270248"/>
            <a:ext cx="33375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457200" y="4270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(fin obs.)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651760" y="4407408"/>
            <a:ext cx="246888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2971800" y="4270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an avant 2024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559552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rev_datebeg2024 = 0 an → 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65760" y="4608576"/>
            <a:ext cx="2286000" cy="27432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2926080" y="4608576"/>
            <a:ext cx="228600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5486400" y="4608576"/>
            <a:ext cx="33375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457200" y="46085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9 ans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651760" y="4745736"/>
            <a:ext cx="246888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2971800" y="4608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9 − 0 = 9 ans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559552" y="4608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même durée, sens inversé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C4C"/>
          </a:solidFill>
          <a:ln w="12700">
            <a:solidFill>
              <a:srgbClr val="0F2C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Stata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795528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850392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79552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Construire les variables en temps inversé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097280"/>
            <a:ext cx="8503920" cy="9966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112471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double rev_ageday80  = (DoB + 80*365.25*24*60*60*1000) - EventDate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 double rev_agebeg80  = (DoB + 80*365.25*24*60*60*1000) - datebeg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85039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185416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Définir la censure pour l'immigration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8503920" cy="9966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IndividualId: gen censor_in = ///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(residence[_n+1]==0 &amp; EventCode[_n+1]!=4 ///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&amp; EventCode[_n+1]!=6 &amp; EventCode[_n+1]!=1 ///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&amp; EventCode[_n+1]!=2) if residence == 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75304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0040" y="3575304"/>
            <a:ext cx="850392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7200" y="3575304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stset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temps inversé + calcul des taux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77056"/>
            <a:ext cx="8503920" cy="9966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39044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stset rev_agebeg80 if residence==1, id(IndividualId) ///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failure(censor_in==1) time0(rev_ageday80) ///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if(age80!=80) exit(time .) scale(31557600000)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stptime, at(0 1 5(5)80) per(1000) dd(2)   // taux par âge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789170"/>
            <a:ext cx="8503920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time0 = rev_ageday80 (fin épisode en réel) et t = rev_agebeg80 (début épisode en réel) — </a:t>
            </a:r>
            <a:r>
              <a:rPr lang="en-US" sz="950" dirty="0" err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inversés</a:t>
            </a: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rapport à l'émigration.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E6970-68D7-EE77-D4B4-F196ADED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CABE1F-3E5B-8A21-9808-D8BE8C95D50D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1FA455-B25F-DA50-219B-F8CB66EBDAEC}"/>
              </a:ext>
            </a:extLst>
          </p:cNvPr>
          <p:cNvSpPr/>
          <p:nvPr/>
        </p:nvSpPr>
        <p:spPr>
          <a:xfrm>
            <a:off x="365760" y="150876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Repartons</a:t>
            </a: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Stata pour la pratique</a:t>
            </a:r>
            <a:endParaRPr lang="en-US" sz="3300" dirty="0"/>
          </a:p>
        </p:txBody>
      </p:sp>
      <p:sp>
        <p:nvSpPr>
          <p:cNvPr id="5" name="Shape 66">
            <a:extLst>
              <a:ext uri="{FF2B5EF4-FFF2-40B4-BE49-F238E27FC236}">
                <a16:creationId xmlns:a16="http://schemas.microsoft.com/office/drawing/2014/main" id="{BDF247EC-C367-C893-5045-21FFCA0CA993}"/>
              </a:ext>
            </a:extLst>
          </p:cNvPr>
          <p:cNvSpPr/>
          <p:nvPr/>
        </p:nvSpPr>
        <p:spPr>
          <a:xfrm>
            <a:off x="201168" y="4928616"/>
            <a:ext cx="8942832" cy="214884"/>
          </a:xfrm>
          <a:prstGeom prst="rect">
            <a:avLst/>
          </a:prstGeom>
          <a:solidFill>
            <a:srgbClr val="002060"/>
          </a:solidFill>
          <a:ln w="12700">
            <a:solidFill>
              <a:srgbClr val="0D2B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67">
            <a:extLst>
              <a:ext uri="{FF2B5EF4-FFF2-40B4-BE49-F238E27FC236}">
                <a16:creationId xmlns:a16="http://schemas.microsoft.com/office/drawing/2014/main" id="{4F9ADEC3-2056-6295-4646-2367E5AED32E}"/>
              </a:ext>
            </a:extLst>
          </p:cNvPr>
          <p:cNvSpPr/>
          <p:nvPr/>
        </p:nvSpPr>
        <p:spPr>
          <a:xfrm>
            <a:off x="274320" y="4919472"/>
            <a:ext cx="77724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HDSS  -  OPO Ouagadougou  |  Résidence et migration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2190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1775</Words>
  <Application>Microsoft Office PowerPoint</Application>
  <PresentationFormat>Affichage à l'écran (16:9)</PresentationFormat>
  <Paragraphs>358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Taux d'immigration HDSS — Methode du temps inverse</dc:title>
  <dc:subject>PptxGenJS Presentation</dc:subject>
  <dc:creator>Yacouba COMPAORE</dc:creator>
  <cp:lastModifiedBy>Yacouba Compaore</cp:lastModifiedBy>
  <cp:revision>7</cp:revision>
  <dcterms:created xsi:type="dcterms:W3CDTF">2026-04-01T00:45:11Z</dcterms:created>
  <dcterms:modified xsi:type="dcterms:W3CDTF">2026-04-01T15:28:45Z</dcterms:modified>
</cp:coreProperties>
</file>